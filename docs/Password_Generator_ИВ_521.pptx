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Urbanist" panose="020B0604020202020204" charset="0"/>
      <p:regular r:id="rId13"/>
      <p:bold r:id="rId14"/>
      <p:italic r:id="rId15"/>
      <p:boldItalic r:id="rId16"/>
    </p:embeddedFont>
    <p:embeddedFont>
      <p:font typeface="Urbanist SemiBold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1207A9-D479-4950-B7CA-78725C697BA0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76400" y="1166812"/>
            <a:ext cx="928116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Password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60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Generator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1676400" y="3033712"/>
            <a:ext cx="8839200" cy="41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A0AE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Консольный аналог pwgen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3948112"/>
            <a:ext cx="8839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Команда ИВ-521</a:t>
            </a:r>
          </a:p>
        </p:txBody>
      </p:sp>
      <p:sp>
        <p:nvSpPr>
          <p:cNvPr id="88" name="Google Shape;88;p13"/>
          <p:cNvSpPr txBox="1"/>
          <p:nvPr/>
        </p:nvSpPr>
        <p:spPr>
          <a:xfrm>
            <a:off x="1676400" y="4405312"/>
            <a:ext cx="883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Ступин Е. — Участник 1 (args.c, main.c)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1676400" y="4833937"/>
            <a:ext cx="88392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35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Бубенин В.</a:t>
            </a:r>
            <a:r>
              <a:rPr lang="en-US" sz="135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— Участник 2 (charset.c, generator.c)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5262562"/>
            <a:ext cx="88392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Заруднев А.</a:t>
            </a:r>
            <a:r>
              <a:rPr lang="en-US" sz="135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— Участник 3 (random.c, output.c, инфраструктура)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637532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637532"/>
            <a:ext cx="349254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2637532"/>
            <a:ext cx="3492549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7250" y="368528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Длина и Кол-во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4199632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Диапазон: 4–256 символов.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Объем: до 10 000 паролей за одну генерацию.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635549" y="368528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Наборы символов</a:t>
            </a:r>
          </a:p>
        </p:txBody>
      </p:sp>
      <p:sp>
        <p:nvSpPr>
          <p:cNvPr id="102" name="Google Shape;102;p14"/>
          <p:cNvSpPr txBox="1"/>
          <p:nvPr/>
        </p:nvSpPr>
        <p:spPr>
          <a:xfrm>
            <a:off x="4635549" y="4199632"/>
            <a:ext cx="29210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Флаги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: -c (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заглавные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), -n (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цифры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), -y (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спецсимволы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), -B (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без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неоднозначных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 </a:t>
            </a:r>
            <a:r>
              <a:rPr lang="ru-RU" sz="1500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и другие.</a:t>
            </a:r>
            <a:endParaRPr lang="en-US" sz="1500" b="0" i="0" u="none" strike="noStrike" cap="none" dirty="0">
              <a:solidFill>
                <a:srgbClr val="F0F4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413849" y="3685282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Два режима</a:t>
            </a:r>
          </a:p>
        </p:txBody>
      </p:sp>
      <p:sp>
        <p:nvSpPr>
          <p:cNvPr id="104" name="Google Shape;104;p14"/>
          <p:cNvSpPr txBox="1"/>
          <p:nvPr/>
        </p:nvSpPr>
        <p:spPr>
          <a:xfrm>
            <a:off x="8413849" y="4199632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Стандартный: rand()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Безопасный: /dev/urandom (флаг -s)</a:t>
            </a: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29899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35549" y="298995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13849" y="29899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Постановка задачи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18033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90550" y="2199382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334125" y="293280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Модульный подход</a:t>
            </a:r>
          </a:p>
        </p:txBody>
      </p:sp>
      <p:sp>
        <p:nvSpPr>
          <p:cNvPr id="117" name="Google Shape;117;p15"/>
          <p:cNvSpPr txBox="1"/>
          <p:nvPr/>
        </p:nvSpPr>
        <p:spPr>
          <a:xfrm>
            <a:off x="6334125" y="344715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Система разделена на независимые модули для упрощения тестирования и сопровождения:</a:t>
            </a:r>
          </a:p>
        </p:txBody>
      </p:sp>
      <p:sp>
        <p:nvSpPr>
          <p:cNvPr id="118" name="Google Shape;118;p15"/>
          <p:cNvSpPr txBox="1"/>
          <p:nvPr/>
        </p:nvSpPr>
        <p:spPr>
          <a:xfrm>
            <a:off x="6677025" y="42091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</a:p>
        </p:txBody>
      </p:sp>
      <p:sp>
        <p:nvSpPr>
          <p:cNvPr id="119" name="Google Shape;119;p15"/>
          <p:cNvSpPr txBox="1"/>
          <p:nvPr/>
        </p:nvSpPr>
        <p:spPr>
          <a:xfrm>
            <a:off x="6715125" y="420915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1:</a:t>
            </a: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args.c — CLI парсинг и валидация.</a:t>
            </a:r>
          </a:p>
        </p:txBody>
      </p:sp>
      <p:sp>
        <p:nvSpPr>
          <p:cNvPr id="120" name="Google Shape;120;p15"/>
          <p:cNvSpPr txBox="1"/>
          <p:nvPr/>
        </p:nvSpPr>
        <p:spPr>
          <a:xfrm>
            <a:off x="6677025" y="449490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</a:p>
        </p:txBody>
      </p:sp>
      <p:sp>
        <p:nvSpPr>
          <p:cNvPr id="121" name="Google Shape;121;p15"/>
          <p:cNvSpPr txBox="1"/>
          <p:nvPr/>
        </p:nvSpPr>
        <p:spPr>
          <a:xfrm>
            <a:off x="6715125" y="449490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2:</a:t>
            </a: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generator.c — Алгоритмическая логика.</a:t>
            </a:r>
          </a:p>
        </p:txBody>
      </p:sp>
      <p:sp>
        <p:nvSpPr>
          <p:cNvPr id="122" name="Google Shape;122;p15"/>
          <p:cNvSpPr txBox="1"/>
          <p:nvPr/>
        </p:nvSpPr>
        <p:spPr>
          <a:xfrm>
            <a:off x="6677025" y="4780657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</a:p>
        </p:txBody>
      </p:sp>
      <p:sp>
        <p:nvSpPr>
          <p:cNvPr id="123" name="Google Shape;123;p15"/>
          <p:cNvSpPr txBox="1"/>
          <p:nvPr/>
        </p:nvSpPr>
        <p:spPr>
          <a:xfrm>
            <a:off x="6715125" y="478065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3:</a:t>
            </a: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random.c — Криптографическая энтропия.</a:t>
            </a:r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Архитектура и Роли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177950"/>
            <a:ext cx="5286375" cy="381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2177950"/>
            <a:ext cx="5286375" cy="381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62025" y="28351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Разбор PwgenOptions</a:t>
            </a:r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28351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Разрешение конфликтов</a:t>
            </a:r>
          </a:p>
        </p:txBody>
      </p:sp>
      <p:sp>
        <p:nvSpPr>
          <p:cNvPr id="134" name="Google Shape;134;p16"/>
          <p:cNvSpPr txBox="1"/>
          <p:nvPr/>
        </p:nvSpPr>
        <p:spPr>
          <a:xfrm>
            <a:off x="6724650" y="33495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Используется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getopt_long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При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указании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противоречащих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флагов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(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например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, -c -A),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последний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флаг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в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строке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имеет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1500" b="0" i="0" u="none" strike="noStrike" cap="none" dirty="0" err="1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приоритет</a:t>
            </a:r>
            <a:r>
              <a:rPr lang="en-US" sz="1500" b="0" i="0" u="none" strike="noStrike" cap="none" dirty="0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.</a:t>
            </a:r>
          </a:p>
        </p:txBody>
      </p:sp>
      <p:sp>
        <p:nvSpPr>
          <p:cNvPr id="135" name="Google Shape;135;p16"/>
          <p:cNvSpPr txBox="1"/>
          <p:nvPr/>
        </p:nvSpPr>
        <p:spPr>
          <a:xfrm>
            <a:off x="6724650" y="43972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Валидация: Ошибка 1 при выходе за границы диапазонов.</a:t>
            </a: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1: CLI и парсинг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637532"/>
            <a:ext cx="5286375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34125" y="2637532"/>
            <a:ext cx="5286375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62025" y="329475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charset_build()</a:t>
            </a:r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3809107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Динамическая сборка алфавита на основе флагов. Реализована фильтрация неоднозначных символов (l, 1, O, 0, I) для улучшения читаемости.</a:t>
            </a:r>
          </a:p>
        </p:txBody>
      </p:sp>
      <p:sp>
        <p:nvSpPr>
          <p:cNvPr id="146" name="Google Shape;146;p17"/>
          <p:cNvSpPr txBox="1"/>
          <p:nvPr/>
        </p:nvSpPr>
        <p:spPr>
          <a:xfrm>
            <a:off x="6724650" y="329475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ensure_requirements()</a:t>
            </a:r>
          </a:p>
        </p:txBody>
      </p:sp>
      <p:sp>
        <p:nvSpPr>
          <p:cNvPr id="147" name="Google Shape;147;p17"/>
          <p:cNvSpPr txBox="1"/>
          <p:nvPr/>
        </p:nvSpPr>
        <p:spPr>
          <a:xfrm>
            <a:off x="6724650" y="380910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Гарантирует наличие хотя бы одного символа из каждого запрошенного класса. После вставки обязательных символов массив перемешивается.</a:t>
            </a:r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2: Логика генерации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003994"/>
            <a:ext cx="520065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Участник 3: Безопасный RNG</a:t>
            </a:r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2756594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Устранение Modulo Bias</a:t>
            </a: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413819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Прямое использование % max дает неравномерное распределение. Реализован алгоритм </a:t>
            </a:r>
            <a:r>
              <a:rPr lang="en-US" sz="1500" b="1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Rejection Sampling</a:t>
            </a: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:</a:t>
            </a: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185469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Если сгенерированное значение больше лимита, оно отбрасывается, обеспечивая математическую честность выбора.</a:t>
            </a:r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96000" y="0"/>
            <a:ext cx="21050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652069"/>
            <a:ext cx="49530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494657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494657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2494657"/>
            <a:ext cx="3492549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57250" y="35424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Makefile</a:t>
            </a:r>
          </a:p>
        </p:txBody>
      </p:sp>
      <p:sp>
        <p:nvSpPr>
          <p:cNvPr id="169" name="Google Shape;169;p19"/>
          <p:cNvSpPr txBox="1"/>
          <p:nvPr/>
        </p:nvSpPr>
        <p:spPr>
          <a:xfrm>
            <a:off x="857250" y="3944997"/>
            <a:ext cx="2921049" cy="1731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Цели: test (тестирование), clean (очистка артефактов в bin/ и obj/)</a:t>
            </a:r>
            <a:r>
              <a:rPr lang="ru-RU" alt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,</a:t>
            </a: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format(форматирование текста), check-style(проверка правил написания кода).</a:t>
            </a:r>
          </a:p>
        </p:txBody>
      </p:sp>
      <p:sp>
        <p:nvSpPr>
          <p:cNvPr id="170" name="Google Shape;170;p19"/>
          <p:cNvSpPr txBox="1"/>
          <p:nvPr/>
        </p:nvSpPr>
        <p:spPr>
          <a:xfrm>
            <a:off x="4635549" y="35424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clang-format</a:t>
            </a:r>
          </a:p>
        </p:txBody>
      </p:sp>
      <p:sp>
        <p:nvSpPr>
          <p:cNvPr id="171" name="Google Shape;171;p19"/>
          <p:cNvSpPr txBox="1"/>
          <p:nvPr/>
        </p:nvSpPr>
        <p:spPr>
          <a:xfrm>
            <a:off x="4635549" y="4056757"/>
            <a:ext cx="29210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Стиль LLVM. Запрет anti-pattern: отсутствие else после return, магических чисел и глобальных переменных.</a:t>
            </a:r>
          </a:p>
        </p:txBody>
      </p:sp>
      <p:sp>
        <p:nvSpPr>
          <p:cNvPr id="172" name="Google Shape;172;p19"/>
          <p:cNvSpPr txBox="1"/>
          <p:nvPr/>
        </p:nvSpPr>
        <p:spPr>
          <a:xfrm>
            <a:off x="8413849" y="3542407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CI/CD</a:t>
            </a:r>
          </a:p>
        </p:txBody>
      </p:sp>
      <p:sp>
        <p:nvSpPr>
          <p:cNvPr id="173" name="Google Shape;173;p19"/>
          <p:cNvSpPr txBox="1"/>
          <p:nvPr/>
        </p:nvSpPr>
        <p:spPr>
          <a:xfrm>
            <a:off x="8413849" y="4056757"/>
            <a:ext cx="29210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GitHub Actions автоматизирует проверку стиля и прогон тестов при каждом Pull Request.</a:t>
            </a:r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57250" y="284708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635549" y="284708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413849" y="284708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Инфраструктура сборки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p20"/>
          <p:cNvGraphicFramePr/>
          <p:nvPr>
            <p:extLst>
              <p:ext uri="{D42A27DB-BD31-4B8C-83A1-F6EECF244321}">
                <p14:modId xmlns:p14="http://schemas.microsoft.com/office/powerpoint/2010/main" val="2560560912"/>
              </p:ext>
            </p:extLst>
          </p:nvPr>
        </p:nvGraphicFramePr>
        <p:xfrm>
          <a:off x="571499" y="2513682"/>
          <a:ext cx="11049000" cy="3133750"/>
        </p:xfrm>
        <a:graphic>
          <a:graphicData uri="http://schemas.openxmlformats.org/drawingml/2006/table">
            <a:tbl>
              <a:tblPr firstRow="1" bandRow="1">
                <a:noFill/>
                <a:tableStyleId>{011207A9-D479-4950-B7CA-78725C697BA0}</a:tableStyleId>
              </a:tblPr>
              <a:tblGrid>
                <a:gridCol w="236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00C2A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Модуль</a:t>
                      </a:r>
                      <a:endParaRPr lang="en-US" sz="1650" b="1" i="0" u="none" strike="noStrike" cap="none" dirty="0">
                        <a:solidFill>
                          <a:srgbClr val="00C2A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C2A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Тест-кейсы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00C2A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    </a:t>
                      </a:r>
                      <a:r>
                        <a:rPr lang="en-US" sz="1650" b="1" i="0" u="none" strike="noStrike" cap="none" dirty="0" err="1">
                          <a:solidFill>
                            <a:srgbClr val="00C2A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Статус</a:t>
                      </a:r>
                      <a:endParaRPr lang="en-US" sz="1650" b="1" i="0" u="none" strike="noStrike" cap="none" dirty="0">
                        <a:solidFill>
                          <a:srgbClr val="00C2A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50"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args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Дефолты, конфликт флагов, невалидная длина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PASSED</a:t>
                      </a:r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charset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Состав алфавита, фильтрация -B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PASSED</a:t>
                      </a:r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generator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Длина пароля, наличие обязательных классов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PASSED</a:t>
                      </a:r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random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Диапазон [0, max), доступ к /dev/urandom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F0F4F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PASSED</a:t>
                      </a:r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571500" y="3147119"/>
            <a:ext cx="2361753" cy="190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933253" y="3147119"/>
            <a:ext cx="6778823" cy="190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712076" y="3147119"/>
            <a:ext cx="1908423" cy="190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3780532"/>
            <a:ext cx="236175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933253" y="3780532"/>
            <a:ext cx="67788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9712076" y="3780532"/>
            <a:ext cx="19084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4399657"/>
            <a:ext cx="236175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933253" y="4399657"/>
            <a:ext cx="67788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9712076" y="4399657"/>
            <a:ext cx="19084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5018782"/>
            <a:ext cx="236175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933253" y="5018782"/>
            <a:ext cx="67788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9712076" y="5018782"/>
            <a:ext cx="19084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71500" y="5637907"/>
            <a:ext cx="236175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933253" y="5637907"/>
            <a:ext cx="67788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712076" y="5637907"/>
            <a:ext cx="1908423" cy="9525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71499" y="980616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Тестирование</a:t>
            </a:r>
            <a:r>
              <a:rPr lang="en-US" sz="3600" b="1" i="0" u="none" strike="noStrike" cap="none" dirty="0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(</a:t>
            </a:r>
            <a:r>
              <a:rPr lang="en-US" sz="3600" b="1" i="0" u="none" strike="noStrike" cap="none" dirty="0" err="1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ctest</a:t>
            </a:r>
            <a:r>
              <a:rPr lang="en-US" sz="3600" b="1" i="0" u="none" strike="noStrike" cap="none" dirty="0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1884312"/>
            <a:ext cx="538162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38875" y="1884312"/>
            <a:ext cx="538162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106019" y="4779912"/>
            <a:ext cx="3979961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857250" y="2932062"/>
            <a:ext cx="505063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Workflow</a:t>
            </a:r>
          </a:p>
        </p:txBody>
      </p:sp>
      <p:sp>
        <p:nvSpPr>
          <p:cNvPr id="217" name="Google Shape;217;p21"/>
          <p:cNvSpPr txBox="1"/>
          <p:nvPr/>
        </p:nvSpPr>
        <p:spPr>
          <a:xfrm>
            <a:off x="857250" y="3446412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Build → check-style → test. Никто не может слить код без прохождения всех проверок роботом.</a:t>
            </a:r>
          </a:p>
        </p:txBody>
      </p:sp>
      <p:sp>
        <p:nvSpPr>
          <p:cNvPr id="218" name="Google Shape;218;p21"/>
          <p:cNvSpPr txBox="1"/>
          <p:nvPr/>
        </p:nvSpPr>
        <p:spPr>
          <a:xfrm>
            <a:off x="6524625" y="2932062"/>
            <a:ext cx="5050631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Критерии</a:t>
            </a: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 (DoD)</a:t>
            </a:r>
          </a:p>
        </p:txBody>
      </p:sp>
      <p:sp>
        <p:nvSpPr>
          <p:cNvPr id="219" name="Google Shape;219;p21"/>
          <p:cNvSpPr txBox="1"/>
          <p:nvPr/>
        </p:nvSpPr>
        <p:spPr>
          <a:xfrm>
            <a:off x="6524625" y="3446412"/>
            <a:ext cx="48101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0F4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Код отформатирован, тесты проходят, Pull Request одобрен и слит с флагом --no-ff.</a:t>
            </a:r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57250" y="2236737"/>
            <a:ext cx="3714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24625" y="22367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C2A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CI Pipeline &amp; DoD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295275" y="25146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Спасибо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за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</a:t>
            </a: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внимание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!</a:t>
            </a:r>
          </a:p>
        </p:txBody>
      </p:sp>
      <p:sp>
        <p:nvSpPr>
          <p:cNvPr id="233" name="Google Shape;233;p22"/>
          <p:cNvSpPr txBox="1"/>
          <p:nvPr/>
        </p:nvSpPr>
        <p:spPr>
          <a:xfrm>
            <a:off x="498348" y="5592960"/>
            <a:ext cx="1104900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350" b="0" i="0" u="none" strike="noStrike" cap="none" dirty="0">
                <a:solidFill>
                  <a:srgbClr val="A0AE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https://github.com/SuuNdeeR/pwgen-analogue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479</Words>
  <Application>Microsoft Office PowerPoint</Application>
  <PresentationFormat>Широкоэкранный</PresentationFormat>
  <Paragraphs>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Urbanist</vt:lpstr>
      <vt:lpstr>Calibri</vt:lpstr>
      <vt:lpstr>Urbanist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Ступин Егор</cp:lastModifiedBy>
  <cp:revision>4</cp:revision>
  <dcterms:created xsi:type="dcterms:W3CDTF">2026-05-22T15:11:00Z</dcterms:created>
  <dcterms:modified xsi:type="dcterms:W3CDTF">2026-05-22T18:17:28Z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F75B04D88C324708A40BB945470787B4_12</vt:lpwstr>
  </property>
  <property fmtid="{D5CDD505-2E9C-101B-9397-08002B2CF9AE}" pid="3" name="KSOProductBuildVer">
    <vt:lpwstr>1049-12.1.0.26372</vt:lpwstr>
  </property>
</Properties>
</file>